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DD6FE"/>
              </a:solidFill>
              <a:effectLst/>
            </c:spPr>
          </c:dPt>
          <c:dPt>
            <c:idx val="1"/>
            <c:bubble3D val="0"/>
            <c:spPr>
              <a:solidFill>
                <a:srgbClr val="6D28D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F243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F243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Genuine</c:v>
                </c:pt>
                <c:pt idx="1">
                  <c:v>Fraud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4897</c:v>
                </c:pt>
                <c:pt idx="1">
                  <c:v>103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4B526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%</c:v>
                </c:pt>
              </c:strCache>
            </c:strRef>
          </c:tx>
          <c:spPr>
            <a:solidFill>
              <a:srgbClr val="6D28D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Business</c:v>
                  </c:pt>
                  <c:pt idx="1">
                    <c:v>Education</c:v>
                  </c:pt>
                  <c:pt idx="2">
                    <c:v>Personal</c:v>
                  </c:pt>
                  <c:pt idx="3">
                    <c:v>Home</c:v>
                  </c:pt>
                  <c:pt idx="4">
                    <c:v>Car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2.3</c:v>
                </c:pt>
                <c:pt idx="1">
                  <c:v>2.14</c:v>
                </c:pt>
                <c:pt idx="2">
                  <c:v>2.14</c:v>
                </c:pt>
                <c:pt idx="3">
                  <c:v>1.94</c:v>
                </c:pt>
                <c:pt idx="4">
                  <c:v>1.78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2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2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%</c:v>
                </c:pt>
              </c:strCache>
            </c:strRef>
          </c:tx>
          <c:spPr>
            <a:solidFill>
              <a:srgbClr val="6D28D9"/>
            </a:solidFill>
            <a:ln w="28575" cap="flat">
              <a:solidFill>
                <a:srgbClr val="6D28D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D28D9"/>
              </a:solidFill>
              <a:ln w="9525" cap="flat">
                <a:solidFill>
                  <a:srgbClr val="6D28D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2022 Q2</c:v>
                  </c:pt>
                  <c:pt idx="1">
                    <c:v>2022 Q3</c:v>
                  </c:pt>
                  <c:pt idx="2">
                    <c:v>2022 Q4</c:v>
                  </c:pt>
                  <c:pt idx="3">
                    <c:v>2023 Q1</c:v>
                  </c:pt>
                  <c:pt idx="4">
                    <c:v>2023 Q2</c:v>
                  </c:pt>
                  <c:pt idx="5">
                    <c:v>2023 Q3</c:v>
                  </c:pt>
                  <c:pt idx="6">
                    <c:v>2023 Q4</c:v>
                  </c:pt>
                  <c:pt idx="7">
                    <c:v>2024 Q1</c:v>
                  </c:pt>
                  <c:pt idx="8">
                    <c:v>2024 Q2</c:v>
                  </c:pt>
                  <c:pt idx="9">
                    <c:v>2024 Q3</c:v>
                  </c:pt>
                  <c:pt idx="10">
                    <c:v>2024 Q4</c:v>
                  </c:pt>
                  <c:pt idx="11">
                    <c:v>2025 Q1</c:v>
                  </c:pt>
                  <c:pt idx="12">
                    <c:v>2025 Q2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2.63</c:v>
                </c:pt>
                <c:pt idx="2">
                  <c:v>1.47</c:v>
                </c:pt>
                <c:pt idx="3">
                  <c:v>2.22</c:v>
                </c:pt>
                <c:pt idx="4">
                  <c:v>2.72</c:v>
                </c:pt>
                <c:pt idx="5">
                  <c:v>2.08</c:v>
                </c:pt>
                <c:pt idx="6">
                  <c:v>1.22</c:v>
                </c:pt>
                <c:pt idx="7">
                  <c:v>1.32</c:v>
                </c:pt>
                <c:pt idx="8">
                  <c:v>1.74</c:v>
                </c:pt>
                <c:pt idx="9">
                  <c:v>1.94</c:v>
                </c:pt>
                <c:pt idx="10">
                  <c:v>3.03</c:v>
                </c:pt>
                <c:pt idx="11">
                  <c:v>3.11</c:v>
                </c:pt>
                <c:pt idx="12">
                  <c:v>1.66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900" b="0" i="0" u="none" strike="noStrike">
                <a:solidFill>
                  <a:srgbClr val="4B52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2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cases detected</c:v>
                </c:pt>
              </c:strCache>
            </c:strRef>
          </c:tx>
          <c:spPr>
            <a:solidFill>
              <a:srgbClr val="6D28D9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 Reg.</c:v>
                  </c:pt>
                  <c:pt idx="1">
                    <c:v>Decision Tree</c:v>
                  </c:pt>
                  <c:pt idx="2">
                    <c:v>Naive Bayes</c:v>
                  </c:pt>
                  <c:pt idx="3">
                    <c:v>Random Forest</c:v>
                  </c:pt>
                  <c:pt idx="4">
                    <c:v>XGBoost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1</c:v>
                </c:pt>
                <c:pt idx="2">
                  <c:v>7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F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2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"/>
          <c:min val="0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2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7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6D28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109167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FraudGuard  ·  DWM  ·  Vidyalankar Institute of Technology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FraudGuard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Financial Fraud Detection &amp; Customer Risk Analysis</a:t>
            </a:r>
            <a:endParaRPr lang="en-US" sz="2600" dirty="0"/>
          </a:p>
        </p:txBody>
      </p:sp>
      <p:sp>
        <p:nvSpPr>
          <p:cNvPr id="4" name="Course line"/>
          <p:cNvSpPr txBox="1"/>
          <p:nvPr/>
        </p:nvSpPr>
        <p:spPr>
          <a:xfrm>
            <a:off x="548640" y="640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Data Warehouse and Mining (DWM)  ·  Department of INFT  ·  Vidyalankar Institute of Technology  ·  Academic Year 2026–2027</a:t>
            </a:r>
            <a:endParaRPr lang="en-US" sz="1500" dirty="0"/>
          </a:p>
        </p:txBody>
      </p:sp>
      <p:sp>
        <p:nvSpPr>
          <p:cNvPr id="5" name="Overview"/>
          <p:cNvSpPr txBox="1"/>
          <p:nvPr/>
        </p:nvSpPr>
        <p:spPr>
          <a:xfrm>
            <a:off x="548640" y="361188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web-based system that analyses loan applications with a data warehouse star schema and OLAP, compares five ML models for fraud detection, and supports the loan workflow for three roles.</a:t>
            </a:r>
            <a:endParaRPr lang="en-US" sz="1600" dirty="0"/>
          </a:p>
        </p:txBody>
      </p:sp>
      <p:sp>
        <p:nvSpPr>
          <p:cNvPr id="6" name="Stat 1 card"/>
          <p:cNvSpPr/>
          <p:nvPr/>
        </p:nvSpPr>
        <p:spPr>
          <a:xfrm>
            <a:off x="548640" y="44805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7" name="Stat 1 value"/>
          <p:cNvSpPr txBox="1"/>
          <p:nvPr/>
        </p:nvSpPr>
        <p:spPr>
          <a:xfrm>
            <a:off x="731520" y="4553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5,000</a:t>
            </a:r>
            <a:endParaRPr lang="en-US" sz="2400" dirty="0"/>
          </a:p>
        </p:txBody>
      </p:sp>
      <p:sp>
        <p:nvSpPr>
          <p:cNvPr id="8" name="Stat 1 label"/>
          <p:cNvSpPr txBox="1"/>
          <p:nvPr/>
        </p:nvSpPr>
        <p:spPr>
          <a:xfrm>
            <a:off x="731520" y="5029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loan applications</a:t>
            </a:r>
            <a:endParaRPr lang="en-US" sz="1300" dirty="0"/>
          </a:p>
        </p:txBody>
      </p:sp>
      <p:sp>
        <p:nvSpPr>
          <p:cNvPr id="9" name="Stat 2 card"/>
          <p:cNvSpPr/>
          <p:nvPr/>
        </p:nvSpPr>
        <p:spPr>
          <a:xfrm>
            <a:off x="3364992" y="44805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0" name="Stat 2 value"/>
          <p:cNvSpPr txBox="1"/>
          <p:nvPr/>
        </p:nvSpPr>
        <p:spPr>
          <a:xfrm>
            <a:off x="3547872" y="4553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103 (2.06%)</a:t>
            </a:r>
            <a:endParaRPr lang="en-US" sz="2400" dirty="0"/>
          </a:p>
        </p:txBody>
      </p:sp>
      <p:sp>
        <p:nvSpPr>
          <p:cNvPr id="11" name="Stat 2 label"/>
          <p:cNvSpPr txBox="1"/>
          <p:nvPr/>
        </p:nvSpPr>
        <p:spPr>
          <a:xfrm>
            <a:off x="3547872" y="5029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fraud cases</a:t>
            </a:r>
            <a:endParaRPr lang="en-US" sz="1300" dirty="0"/>
          </a:p>
        </p:txBody>
      </p:sp>
      <p:sp>
        <p:nvSpPr>
          <p:cNvPr id="12" name="Stat 3 card"/>
          <p:cNvSpPr/>
          <p:nvPr/>
        </p:nvSpPr>
        <p:spPr>
          <a:xfrm>
            <a:off x="6181344" y="44805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3" name="Stat 3 value"/>
          <p:cNvSpPr txBox="1"/>
          <p:nvPr/>
        </p:nvSpPr>
        <p:spPr>
          <a:xfrm>
            <a:off x="6364224" y="4553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</a:t>
            </a:r>
            <a:endParaRPr lang="en-US" sz="2400" dirty="0"/>
          </a:p>
        </p:txBody>
      </p:sp>
      <p:sp>
        <p:nvSpPr>
          <p:cNvPr id="14" name="Stat 3 label"/>
          <p:cNvSpPr txBox="1"/>
          <p:nvPr/>
        </p:nvSpPr>
        <p:spPr>
          <a:xfrm>
            <a:off x="6364224" y="5029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ML models compared</a:t>
            </a:r>
            <a:endParaRPr lang="en-US" sz="1300" dirty="0"/>
          </a:p>
        </p:txBody>
      </p:sp>
      <p:sp>
        <p:nvSpPr>
          <p:cNvPr id="15" name="Stat 4 card"/>
          <p:cNvSpPr/>
          <p:nvPr/>
        </p:nvSpPr>
        <p:spPr>
          <a:xfrm>
            <a:off x="8997696" y="44805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6" name="Stat 4 value"/>
          <p:cNvSpPr txBox="1"/>
          <p:nvPr/>
        </p:nvSpPr>
        <p:spPr>
          <a:xfrm>
            <a:off x="9180576" y="4553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Stat 4 label"/>
          <p:cNvSpPr txBox="1"/>
          <p:nvPr/>
        </p:nvSpPr>
        <p:spPr>
          <a:xfrm>
            <a:off x="9180576" y="5029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role-based modules</a:t>
            </a:r>
            <a:endParaRPr lang="en-US" sz="1300" dirty="0"/>
          </a:p>
        </p:txBody>
      </p:sp>
      <p:sp>
        <p:nvSpPr>
          <p:cNvPr id="18" name="Students"/>
          <p:cNvSpPr txBox="1"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Omkar Padhi  ·  Roll No 24101C0003        Shremaan Kumar  ·  Roll No 24101C0002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Problem Statement and Objectives</a:t>
            </a:r>
            <a:endParaRPr lang="en-US" sz="3200" dirty="0"/>
          </a:p>
        </p:txBody>
      </p:sp>
      <p:sp>
        <p:nvSpPr>
          <p:cNvPr id="3" name="Problem heading"/>
          <p:cNvSpPr txBox="1"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Problem</a:t>
            </a:r>
            <a:endParaRPr lang="en-US" sz="1500" dirty="0"/>
          </a:p>
        </p:txBody>
      </p:sp>
      <p:sp>
        <p:nvSpPr>
          <p:cNvPr id="4" name="Problem points"/>
          <p:cNvSpPr txBox="1"/>
          <p:nvPr/>
        </p:nvSpPr>
        <p:spPr>
          <a:xfrm>
            <a:off x="548640" y="17830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Fraud is rare: only 103 of 5,000 applications (2.06%).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Manual review is slow, subjective and records no reason.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Flat records give no view of fraud by time, loan type or segment.</a:t>
            </a:r>
            <a:endParaRPr lang="en-US" sz="1500" dirty="0"/>
          </a:p>
        </p:txBody>
      </p:sp>
      <p:graphicFrame>
        <p:nvGraphicFramePr>
          <p:cNvPr id="5" name="Class balance chart" descr=""/>
          <p:cNvGraphicFramePr/>
          <p:nvPr/>
        </p:nvGraphicFramePr>
        <p:xfrm>
          <a:off x="548640" y="3520440"/>
          <a:ext cx="51206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lass balance caption"/>
          <p:cNvSpPr txBox="1"/>
          <p:nvPr/>
        </p:nvSpPr>
        <p:spPr>
          <a:xfrm>
            <a:off x="548640" y="59893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Class balance: 4,897 genuine, 103 fraud</a:t>
            </a:r>
            <a:endParaRPr lang="en-US" sz="1100" dirty="0"/>
          </a:p>
        </p:txBody>
      </p:sp>
      <p:sp>
        <p:nvSpPr>
          <p:cNvPr id="7" name="Objectives heading"/>
          <p:cNvSpPr txBox="1"/>
          <p:nvPr/>
        </p:nvSpPr>
        <p:spPr>
          <a:xfrm>
            <a:off x="630936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Objectives</a:t>
            </a:r>
            <a:endParaRPr lang="en-US" sz="1500" dirty="0"/>
          </a:p>
        </p:txBody>
      </p:sp>
      <p:sp>
        <p:nvSpPr>
          <p:cNvPr id="8" name="Objective 1 card"/>
          <p:cNvSpPr/>
          <p:nvPr/>
        </p:nvSpPr>
        <p:spPr>
          <a:xfrm>
            <a:off x="6309360" y="1810512"/>
            <a:ext cx="533095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9" name="Objective 1 circle"/>
          <p:cNvSpPr/>
          <p:nvPr/>
        </p:nvSpPr>
        <p:spPr>
          <a:xfrm>
            <a:off x="6473952" y="1965960"/>
            <a:ext cx="420624" cy="42062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Objective 1 number"/>
          <p:cNvSpPr txBox="1"/>
          <p:nvPr/>
        </p:nvSpPr>
        <p:spPr>
          <a:xfrm>
            <a:off x="6473952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Objective 1 text"/>
          <p:cNvSpPr txBox="1"/>
          <p:nvPr/>
        </p:nvSpPr>
        <p:spPr>
          <a:xfrm>
            <a:off x="7059168" y="181051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 loan data as a star schema and analyse it with OLAP</a:t>
            </a:r>
            <a:endParaRPr lang="en-US" sz="1400" dirty="0"/>
          </a:p>
        </p:txBody>
      </p:sp>
      <p:sp>
        <p:nvSpPr>
          <p:cNvPr id="12" name="Objective 2 card"/>
          <p:cNvSpPr/>
          <p:nvPr/>
        </p:nvSpPr>
        <p:spPr>
          <a:xfrm>
            <a:off x="6309360" y="2660904"/>
            <a:ext cx="533095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3" name="Objective 2 circle"/>
          <p:cNvSpPr/>
          <p:nvPr/>
        </p:nvSpPr>
        <p:spPr>
          <a:xfrm>
            <a:off x="6473952" y="2816352"/>
            <a:ext cx="420624" cy="42062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Objective 2 number"/>
          <p:cNvSpPr txBox="1"/>
          <p:nvPr/>
        </p:nvSpPr>
        <p:spPr>
          <a:xfrm>
            <a:off x="6473952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Objective 2 text"/>
          <p:cNvSpPr txBox="1"/>
          <p:nvPr/>
        </p:nvSpPr>
        <p:spPr>
          <a:xfrm>
            <a:off x="7059168" y="2660904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Assess data quality and perform exploratory analysis</a:t>
            </a:r>
            <a:endParaRPr lang="en-US" sz="1400" dirty="0"/>
          </a:p>
        </p:txBody>
      </p:sp>
      <p:sp>
        <p:nvSpPr>
          <p:cNvPr id="16" name="Objective 3 card"/>
          <p:cNvSpPr/>
          <p:nvPr/>
        </p:nvSpPr>
        <p:spPr>
          <a:xfrm>
            <a:off x="6309360" y="3511296"/>
            <a:ext cx="533095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7" name="Objective 3 circle"/>
          <p:cNvSpPr/>
          <p:nvPr/>
        </p:nvSpPr>
        <p:spPr>
          <a:xfrm>
            <a:off x="6473952" y="3666744"/>
            <a:ext cx="420624" cy="42062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Objective 3 number"/>
          <p:cNvSpPr txBox="1"/>
          <p:nvPr/>
        </p:nvSpPr>
        <p:spPr>
          <a:xfrm>
            <a:off x="6473952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Objective 3 text"/>
          <p:cNvSpPr txBox="1"/>
          <p:nvPr/>
        </p:nvSpPr>
        <p:spPr>
          <a:xfrm>
            <a:off x="7059168" y="3511296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an ML pipeline that handles class imbalance</a:t>
            </a:r>
            <a:endParaRPr lang="en-US" sz="1400" dirty="0"/>
          </a:p>
        </p:txBody>
      </p:sp>
      <p:sp>
        <p:nvSpPr>
          <p:cNvPr id="20" name="Objective 4 card"/>
          <p:cNvSpPr/>
          <p:nvPr/>
        </p:nvSpPr>
        <p:spPr>
          <a:xfrm>
            <a:off x="6309360" y="4361688"/>
            <a:ext cx="533095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21" name="Objective 4 circle"/>
          <p:cNvSpPr/>
          <p:nvPr/>
        </p:nvSpPr>
        <p:spPr>
          <a:xfrm>
            <a:off x="6473952" y="4517136"/>
            <a:ext cx="420624" cy="42062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Objective 4 number"/>
          <p:cNvSpPr txBox="1"/>
          <p:nvPr/>
        </p:nvSpPr>
        <p:spPr>
          <a:xfrm>
            <a:off x="6473952" y="4517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Objective 4 text"/>
          <p:cNvSpPr txBox="1"/>
          <p:nvPr/>
        </p:nvSpPr>
        <p:spPr>
          <a:xfrm>
            <a:off x="7059168" y="436168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five classifiers on the same test set</a:t>
            </a:r>
            <a:endParaRPr lang="en-US" sz="1400" dirty="0"/>
          </a:p>
        </p:txBody>
      </p:sp>
      <p:sp>
        <p:nvSpPr>
          <p:cNvPr id="24" name="Objective 5 card"/>
          <p:cNvSpPr/>
          <p:nvPr/>
        </p:nvSpPr>
        <p:spPr>
          <a:xfrm>
            <a:off x="6309360" y="5212080"/>
            <a:ext cx="533095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25" name="Objective 5 circle"/>
          <p:cNvSpPr/>
          <p:nvPr/>
        </p:nvSpPr>
        <p:spPr>
          <a:xfrm>
            <a:off x="6473952" y="5367528"/>
            <a:ext cx="420624" cy="420624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6" name="Objective 5 number"/>
          <p:cNvSpPr txBox="1"/>
          <p:nvPr/>
        </p:nvSpPr>
        <p:spPr>
          <a:xfrm>
            <a:off x="6473952" y="5367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Objective 5 text"/>
          <p:cNvSpPr txBox="1"/>
          <p:nvPr/>
        </p:nvSpPr>
        <p:spPr>
          <a:xfrm>
            <a:off x="7059168" y="521208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Provide Customer, Bank Officer and Admin modules with role-based access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Dataset, Preprocessing and EDA</a:t>
            </a:r>
            <a:endParaRPr lang="en-US" sz="3200" dirty="0"/>
          </a:p>
        </p:txBody>
      </p:sp>
      <p:sp>
        <p:nvSpPr>
          <p:cNvPr id="3" name="Dataset heading"/>
          <p:cNvSpPr txBox="1"/>
          <p:nvPr/>
        </p:nvSpPr>
        <p:spPr>
          <a:xfrm>
            <a:off x="548640" y="1417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Dataset</a:t>
            </a:r>
            <a:endParaRPr lang="en-US" sz="1500" dirty="0"/>
          </a:p>
        </p:txBody>
      </p:sp>
      <p:sp>
        <p:nvSpPr>
          <p:cNvPr id="4" name="Dataset points"/>
          <p:cNvSpPr txBox="1"/>
          <p:nvPr/>
        </p:nvSpPr>
        <p:spPr>
          <a:xfrm>
            <a:off x="548640" y="178308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5,000 loan applications, 25 attributes, 5 June 2022 to 4 June 2025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Target FraudFlag: 103 fraud, 4,897 genuine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0 missing values, 0 duplicate rows</a:t>
            </a:r>
            <a:endParaRPr lang="en-US" sz="1500" dirty="0"/>
          </a:p>
        </p:txBody>
      </p:sp>
      <p:sp>
        <p:nvSpPr>
          <p:cNvPr id="5" name="Preprocessing heading"/>
          <p:cNvSpPr txBox="1"/>
          <p:nvPr/>
        </p:nvSpPr>
        <p:spPr>
          <a:xfrm>
            <a:off x="54864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Preprocessing</a:t>
            </a:r>
            <a:endParaRPr lang="en-US" sz="1500" dirty="0"/>
          </a:p>
        </p:txBody>
      </p:sp>
      <p:sp>
        <p:nvSpPr>
          <p:cNvPr id="6" name="Preprocessing points"/>
          <p:cNvSpPr txBox="1"/>
          <p:nvPr/>
        </p:nvSpPr>
        <p:spPr>
          <a:xfrm>
            <a:off x="548640" y="38862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13 features (8 numeric, 5 categorical); outcome fields excluded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Impute, scale and one-hot encode (32 encoded features)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Stratified 80 / 20 split: 4,000 train, 1,000 test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SMOTE applied to the training set only</a:t>
            </a:r>
            <a:endParaRPr lang="en-US" sz="1500" dirty="0"/>
          </a:p>
        </p:txBody>
      </p:sp>
      <p:sp>
        <p:nvSpPr>
          <p:cNvPr id="7" name="Loan type caption"/>
          <p:cNvSpPr txBox="1"/>
          <p:nvPr/>
        </p:nvSpPr>
        <p:spPr>
          <a:xfrm>
            <a:off x="5943600" y="14173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Fraud % by loan type</a:t>
            </a:r>
            <a:endParaRPr lang="en-US" sz="1100" dirty="0"/>
          </a:p>
        </p:txBody>
      </p:sp>
      <p:graphicFrame>
        <p:nvGraphicFramePr>
          <p:cNvPr id="8" name="Loan type chart" descr=""/>
          <p:cNvGraphicFramePr/>
          <p:nvPr/>
        </p:nvGraphicFramePr>
        <p:xfrm>
          <a:off x="5943600" y="1645920"/>
          <a:ext cx="569671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rend caption"/>
          <p:cNvSpPr txBox="1"/>
          <p:nvPr/>
        </p:nvSpPr>
        <p:spPr>
          <a:xfrm>
            <a:off x="5943600" y="384048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Fraud % by quarter of application date</a:t>
            </a:r>
            <a:endParaRPr lang="en-US" sz="1100" dirty="0"/>
          </a:p>
        </p:txBody>
      </p:sp>
      <p:graphicFrame>
        <p:nvGraphicFramePr>
          <p:cNvPr id="10" name="Trend chart" descr=""/>
          <p:cNvGraphicFramePr/>
          <p:nvPr/>
        </p:nvGraphicFramePr>
        <p:xfrm>
          <a:off x="5943600" y="4069080"/>
          <a:ext cx="569671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System Architecture and DWM / OLAP</a:t>
            </a:r>
            <a:endParaRPr lang="en-US" sz="3200" dirty="0"/>
          </a:p>
        </p:txBody>
      </p:sp>
      <p:sp>
        <p:nvSpPr>
          <p:cNvPr id="3" name="System architecture diagram frame"/>
          <p:cNvSpPr/>
          <p:nvPr/>
        </p:nvSpPr>
        <p:spPr>
          <a:xfrm>
            <a:off x="530352" y="1444752"/>
            <a:ext cx="6711696" cy="227496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" name="System architecture diagram" descr="System architectur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675120" cy="2238390"/>
          </a:xfrm>
          <a:prstGeom prst="rect">
            <a:avLst/>
          </a:prstGeom>
        </p:spPr>
      </p:pic>
      <p:sp>
        <p:nvSpPr>
          <p:cNvPr id="5" name="Architecture caption"/>
          <p:cNvSpPr txBox="1"/>
          <p:nvPr/>
        </p:nvSpPr>
        <p:spPr>
          <a:xfrm>
            <a:off x="548640" y="377458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System architecture: React frontend, FastAPI backend, dataset, SQLite and saved models</a:t>
            </a:r>
            <a:endParaRPr lang="en-US" sz="1100" dirty="0"/>
          </a:p>
        </p:txBody>
      </p:sp>
      <p:sp>
        <p:nvSpPr>
          <p:cNvPr id="6" name="Hierarchy heading"/>
          <p:cNvSpPr txBox="1"/>
          <p:nvPr/>
        </p:nvSpPr>
        <p:spPr>
          <a:xfrm>
            <a:off x="548640" y="41605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OLAP hierarchy</a:t>
            </a:r>
            <a:endParaRPr lang="en-US" sz="1500" dirty="0"/>
          </a:p>
        </p:txBody>
      </p:sp>
      <p:sp>
        <p:nvSpPr>
          <p:cNvPr id="7" name="Hierarchy Year"/>
          <p:cNvSpPr/>
          <p:nvPr/>
        </p:nvSpPr>
        <p:spPr>
          <a:xfrm>
            <a:off x="548640" y="4553712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6D28D9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8" name="Hierarchy Year text"/>
          <p:cNvSpPr txBox="1"/>
          <p:nvPr/>
        </p:nvSpPr>
        <p:spPr>
          <a:xfrm>
            <a:off x="548640" y="45537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Year</a:t>
            </a:r>
            <a:endParaRPr lang="en-US" sz="1400" dirty="0"/>
          </a:p>
        </p:txBody>
      </p:sp>
      <p:sp>
        <p:nvSpPr>
          <p:cNvPr id="9" name="Hierarchy arrow 1"/>
          <p:cNvSpPr/>
          <p:nvPr/>
        </p:nvSpPr>
        <p:spPr>
          <a:xfrm>
            <a:off x="2011680" y="4736592"/>
            <a:ext cx="201168" cy="182880"/>
          </a:xfrm>
          <a:prstGeom prst="rightArrow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Hierarchy Quarter"/>
          <p:cNvSpPr/>
          <p:nvPr/>
        </p:nvSpPr>
        <p:spPr>
          <a:xfrm>
            <a:off x="2258568" y="4553712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1" name="Hierarchy Quarter text"/>
          <p:cNvSpPr txBox="1"/>
          <p:nvPr/>
        </p:nvSpPr>
        <p:spPr>
          <a:xfrm>
            <a:off x="2258568" y="45537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Quarter</a:t>
            </a:r>
            <a:endParaRPr lang="en-US" sz="1400" dirty="0"/>
          </a:p>
        </p:txBody>
      </p:sp>
      <p:sp>
        <p:nvSpPr>
          <p:cNvPr id="12" name="Hierarchy arrow 2"/>
          <p:cNvSpPr/>
          <p:nvPr/>
        </p:nvSpPr>
        <p:spPr>
          <a:xfrm>
            <a:off x="3721608" y="4736592"/>
            <a:ext cx="201168" cy="182880"/>
          </a:xfrm>
          <a:prstGeom prst="rightArrow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Hierarchy Month"/>
          <p:cNvSpPr/>
          <p:nvPr/>
        </p:nvSpPr>
        <p:spPr>
          <a:xfrm>
            <a:off x="3968496" y="4553712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4" name="Hierarchy Month text"/>
          <p:cNvSpPr txBox="1"/>
          <p:nvPr/>
        </p:nvSpPr>
        <p:spPr>
          <a:xfrm>
            <a:off x="3968496" y="45537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Month</a:t>
            </a:r>
            <a:endParaRPr lang="en-US" sz="1400" dirty="0"/>
          </a:p>
        </p:txBody>
      </p:sp>
      <p:sp>
        <p:nvSpPr>
          <p:cNvPr id="15" name="Hierarchy arrow 3"/>
          <p:cNvSpPr/>
          <p:nvPr/>
        </p:nvSpPr>
        <p:spPr>
          <a:xfrm>
            <a:off x="5431536" y="4736592"/>
            <a:ext cx="201168" cy="182880"/>
          </a:xfrm>
          <a:prstGeom prst="rightArrow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Hierarchy Loan Type"/>
          <p:cNvSpPr/>
          <p:nvPr/>
        </p:nvSpPr>
        <p:spPr>
          <a:xfrm>
            <a:off x="5678424" y="4553712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7" name="Hierarchy Loan Type text"/>
          <p:cNvSpPr txBox="1"/>
          <p:nvPr/>
        </p:nvSpPr>
        <p:spPr>
          <a:xfrm>
            <a:off x="5678424" y="45537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Loan Type</a:t>
            </a:r>
            <a:endParaRPr lang="en-US" sz="1400" dirty="0"/>
          </a:p>
        </p:txBody>
      </p:sp>
      <p:sp>
        <p:nvSpPr>
          <p:cNvPr id="18" name="OLAP points"/>
          <p:cNvSpPr txBox="1"/>
          <p:nvPr/>
        </p:nvSpPr>
        <p:spPr>
          <a:xfrm>
            <a:off x="548640" y="5285232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Operations: roll-up, drill-down, slice, dice and pivot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Measures: loan count, fraud count, fraud %, loan amount</a:t>
            </a:r>
            <a:endParaRPr lang="en-US" sz="1500" dirty="0"/>
          </a:p>
        </p:txBody>
      </p:sp>
      <p:sp>
        <p:nvSpPr>
          <p:cNvPr id="19" name="Star schema diagram frame"/>
          <p:cNvSpPr/>
          <p:nvPr/>
        </p:nvSpPr>
        <p:spPr>
          <a:xfrm>
            <a:off x="7708392" y="1444752"/>
            <a:ext cx="3950208" cy="387450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0" name="Star schema diagram" descr="Star schema diagr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1463040"/>
            <a:ext cx="3913632" cy="3837933"/>
          </a:xfrm>
          <a:prstGeom prst="rect">
            <a:avLst/>
          </a:prstGeom>
        </p:spPr>
      </p:pic>
      <p:sp>
        <p:nvSpPr>
          <p:cNvPr id="21" name="Star caption"/>
          <p:cNvSpPr txBox="1"/>
          <p:nvPr/>
        </p:nvSpPr>
        <p:spPr>
          <a:xfrm>
            <a:off x="7726680" y="5374125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Star schema: one fact table and five dimensions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Fraud Detection and ML Methodology</a:t>
            </a:r>
            <a:endParaRPr lang="en-US" sz="3200" dirty="0"/>
          </a:p>
        </p:txBody>
      </p:sp>
      <p:sp>
        <p:nvSpPr>
          <p:cNvPr id="3" name="ML workflow diagram frame"/>
          <p:cNvSpPr/>
          <p:nvPr/>
        </p:nvSpPr>
        <p:spPr>
          <a:xfrm>
            <a:off x="530352" y="1444752"/>
            <a:ext cx="7260336" cy="266120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" name="ML workflow diagram" descr="ML workflow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223760" cy="2624633"/>
          </a:xfrm>
          <a:prstGeom prst="rect">
            <a:avLst/>
          </a:prstGeom>
        </p:spPr>
      </p:pic>
      <p:sp>
        <p:nvSpPr>
          <p:cNvPr id="5" name="Workflow caption"/>
          <p:cNvSpPr txBox="1"/>
          <p:nvPr/>
        </p:nvSpPr>
        <p:spPr>
          <a:xfrm>
            <a:off x="548640" y="4160825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ML workflow: identical pipeline for all five models</a:t>
            </a:r>
            <a:endParaRPr lang="en-US" sz="1100" dirty="0"/>
          </a:p>
        </p:txBody>
      </p:sp>
      <p:sp>
        <p:nvSpPr>
          <p:cNvPr id="6" name="Risk Low card"/>
          <p:cNvSpPr/>
          <p:nvPr/>
        </p:nvSpPr>
        <p:spPr>
          <a:xfrm>
            <a:off x="548640" y="4754880"/>
            <a:ext cx="2322576" cy="1143000"/>
          </a:xfrm>
          <a:prstGeom prst="roundRect">
            <a:avLst>
              <a:gd name="adj" fmla="val 6400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7" name="Risk Low name"/>
          <p:cNvSpPr txBox="1"/>
          <p:nvPr/>
        </p:nvSpPr>
        <p:spPr>
          <a:xfrm>
            <a:off x="731520" y="486460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Low risk</a:t>
            </a:r>
            <a:endParaRPr lang="en-US" sz="1700" dirty="0"/>
          </a:p>
        </p:txBody>
      </p:sp>
      <p:sp>
        <p:nvSpPr>
          <p:cNvPr id="8" name="Risk Low range"/>
          <p:cNvSpPr txBox="1"/>
          <p:nvPr/>
        </p:nvSpPr>
        <p:spPr>
          <a:xfrm>
            <a:off x="731520" y="530352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Fraud probability below 25%</a:t>
            </a:r>
            <a:endParaRPr lang="en-US" sz="1200" dirty="0"/>
          </a:p>
        </p:txBody>
      </p:sp>
      <p:sp>
        <p:nvSpPr>
          <p:cNvPr id="9" name="Risk Medium card"/>
          <p:cNvSpPr/>
          <p:nvPr/>
        </p:nvSpPr>
        <p:spPr>
          <a:xfrm>
            <a:off x="2999232" y="4754880"/>
            <a:ext cx="2322576" cy="1143000"/>
          </a:xfrm>
          <a:prstGeom prst="roundRect">
            <a:avLst>
              <a:gd name="adj" fmla="val 6400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0" name="Risk Medium name"/>
          <p:cNvSpPr txBox="1"/>
          <p:nvPr/>
        </p:nvSpPr>
        <p:spPr>
          <a:xfrm>
            <a:off x="3182112" y="486460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Medium risk</a:t>
            </a:r>
            <a:endParaRPr lang="en-US" sz="1700" dirty="0"/>
          </a:p>
        </p:txBody>
      </p:sp>
      <p:sp>
        <p:nvSpPr>
          <p:cNvPr id="11" name="Risk Medium range"/>
          <p:cNvSpPr txBox="1"/>
          <p:nvPr/>
        </p:nvSpPr>
        <p:spPr>
          <a:xfrm>
            <a:off x="3182112" y="530352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Fraud probability 25% to 50%</a:t>
            </a:r>
            <a:endParaRPr lang="en-US" sz="1200" dirty="0"/>
          </a:p>
        </p:txBody>
      </p:sp>
      <p:sp>
        <p:nvSpPr>
          <p:cNvPr id="12" name="Risk High card"/>
          <p:cNvSpPr/>
          <p:nvPr/>
        </p:nvSpPr>
        <p:spPr>
          <a:xfrm>
            <a:off x="5449824" y="4754880"/>
            <a:ext cx="2322576" cy="1143000"/>
          </a:xfrm>
          <a:prstGeom prst="roundRect">
            <a:avLst>
              <a:gd name="adj" fmla="val 6400"/>
            </a:avLst>
          </a:prstGeom>
          <a:solidFill>
            <a:srgbClr val="6D28D9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3" name="Risk High name"/>
          <p:cNvSpPr txBox="1"/>
          <p:nvPr/>
        </p:nvSpPr>
        <p:spPr>
          <a:xfrm>
            <a:off x="5632704" y="4864608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High risk</a:t>
            </a:r>
            <a:endParaRPr lang="en-US" sz="1700" dirty="0"/>
          </a:p>
        </p:txBody>
      </p:sp>
      <p:sp>
        <p:nvSpPr>
          <p:cNvPr id="14" name="Risk High range"/>
          <p:cNvSpPr txBox="1"/>
          <p:nvPr/>
        </p:nvSpPr>
        <p:spPr>
          <a:xfrm>
            <a:off x="5632704" y="530352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Fraud probability 50% and above</a:t>
            </a:r>
            <a:endParaRPr lang="en-US" sz="1200" dirty="0"/>
          </a:p>
        </p:txBody>
      </p:sp>
      <p:sp>
        <p:nvSpPr>
          <p:cNvPr id="15" name="Methodology points"/>
          <p:cNvSpPr txBox="1"/>
          <p:nvPr/>
        </p:nvSpPr>
        <p:spPr>
          <a:xfrm>
            <a:off x="8092440" y="1463040"/>
            <a:ext cx="354787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Binary classification of FraudFlag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Five models: Logistic Regression, Decision Tree, Gaussian Naive Bayes, Random Forest, XGBoost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model returns a fraud probability for an application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Probability is shown to the Bank Officer as a risk level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officer makes the final decision; reason is stored in the audit trail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ML Model Comparison and Key Results</a:t>
            </a:r>
            <a:endParaRPr lang="en-US" sz="3200" dirty="0"/>
          </a:p>
        </p:txBody>
      </p:sp>
      <p:graphicFrame>
        <p:nvGraphicFramePr>
          <p:cNvPr id="7" name="Model 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60120"/>
                <a:gridCol w="960120"/>
                <a:gridCol w="868680"/>
                <a:gridCol w="777240"/>
                <a:gridCol w="10058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4C1D95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4C1D95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4C1D95"/>
                          </a:solidFill>
                        </a:rPr>
                        <a:t>Precision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4C1D95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4C1D95"/>
                          </a:solidFill>
                        </a:rPr>
                        <a:t>F1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4C1D95"/>
                          </a:solidFill>
                        </a:rPr>
                        <a:t>ROC-AUC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Logistic Regression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60.6%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2.1%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38.1%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3.9%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0.5072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Decision Tree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85.1%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0.8%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4.8%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1.3%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0.4412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Gaussian Naive Bayes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66.4%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2.1%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33.3%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4.0%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0.5189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97.9%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0.0%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0.0%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0.0%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0.5353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XGBoost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94.7%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0.0%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0.0%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0.0%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</a:rPr>
                        <a:t>0.5553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able caption"/>
          <p:cNvSpPr txBox="1"/>
          <p:nvPr/>
        </p:nvSpPr>
        <p:spPr>
          <a:xfrm>
            <a:off x="548640" y="411480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Test set: 1,000 applications, 21 fraud. Models trained once; not retrained.</a:t>
            </a:r>
            <a:endParaRPr lang="en-US" sz="1100" dirty="0"/>
          </a:p>
        </p:txBody>
      </p:sp>
      <p:sp>
        <p:nvSpPr>
          <p:cNvPr id="5" name="Detected caption"/>
          <p:cNvSpPr txBox="1"/>
          <p:nvPr/>
        </p:nvSpPr>
        <p:spPr>
          <a:xfrm>
            <a:off x="7772400" y="1417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Fraud cases detected (out of 21)</a:t>
            </a:r>
            <a:endParaRPr lang="en-US" sz="1100" dirty="0"/>
          </a:p>
        </p:txBody>
      </p:sp>
      <p:graphicFrame>
        <p:nvGraphicFramePr>
          <p:cNvPr id="6" name="Detected chart" descr=""/>
          <p:cNvGraphicFramePr/>
          <p:nvPr/>
        </p:nvGraphicFramePr>
        <p:xfrm>
          <a:off x="7772400" y="1645920"/>
          <a:ext cx="3867912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Result 1 card"/>
          <p:cNvSpPr/>
          <p:nvPr/>
        </p:nvSpPr>
        <p:spPr>
          <a:xfrm>
            <a:off x="548640" y="4572000"/>
            <a:ext cx="3593592" cy="1554480"/>
          </a:xfrm>
          <a:prstGeom prst="roundRect">
            <a:avLst>
              <a:gd name="adj" fmla="val 4706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8" name="Result 1 value"/>
          <p:cNvSpPr txBox="1"/>
          <p:nvPr/>
        </p:nvSpPr>
        <p:spPr>
          <a:xfrm>
            <a:off x="749808" y="46451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97.9%</a:t>
            </a:r>
            <a:endParaRPr lang="en-US" sz="2800" dirty="0"/>
          </a:p>
        </p:txBody>
      </p:sp>
      <p:sp>
        <p:nvSpPr>
          <p:cNvPr id="9" name="Result 1 text"/>
          <p:cNvSpPr txBox="1"/>
          <p:nvPr/>
        </p:nvSpPr>
        <p:spPr>
          <a:xfrm>
            <a:off x="749808" y="5212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Highest accuracy (Random Forest) but 0% recall: every application predicted genuine</a:t>
            </a:r>
            <a:endParaRPr lang="en-US" sz="1300" dirty="0"/>
          </a:p>
        </p:txBody>
      </p:sp>
      <p:sp>
        <p:nvSpPr>
          <p:cNvPr id="10" name="Result 2 card"/>
          <p:cNvSpPr/>
          <p:nvPr/>
        </p:nvSpPr>
        <p:spPr>
          <a:xfrm>
            <a:off x="4297680" y="4572000"/>
            <a:ext cx="3593592" cy="1554480"/>
          </a:xfrm>
          <a:prstGeom prst="roundRect">
            <a:avLst>
              <a:gd name="adj" fmla="val 4706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1" name="Result 2 value"/>
          <p:cNvSpPr txBox="1"/>
          <p:nvPr/>
        </p:nvSpPr>
        <p:spPr>
          <a:xfrm>
            <a:off x="4498848" y="46451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38.1%</a:t>
            </a:r>
            <a:endParaRPr lang="en-US" sz="2800" dirty="0"/>
          </a:p>
        </p:txBody>
      </p:sp>
      <p:sp>
        <p:nvSpPr>
          <p:cNvPr id="12" name="Result 2 text"/>
          <p:cNvSpPr txBox="1"/>
          <p:nvPr/>
        </p:nvSpPr>
        <p:spPr>
          <a:xfrm>
            <a:off x="4498848" y="5212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Highest recall (Logistic Regression): 8 of 21 fraud found, with 381 false alarms</a:t>
            </a:r>
            <a:endParaRPr lang="en-US" sz="1300" dirty="0"/>
          </a:p>
        </p:txBody>
      </p:sp>
      <p:sp>
        <p:nvSpPr>
          <p:cNvPr id="13" name="Result 3 card"/>
          <p:cNvSpPr/>
          <p:nvPr/>
        </p:nvSpPr>
        <p:spPr>
          <a:xfrm>
            <a:off x="8046720" y="4572000"/>
            <a:ext cx="3593592" cy="1554480"/>
          </a:xfrm>
          <a:prstGeom prst="roundRect">
            <a:avLst>
              <a:gd name="adj" fmla="val 4706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4" name="Result 3 value"/>
          <p:cNvSpPr txBox="1"/>
          <p:nvPr/>
        </p:nvSpPr>
        <p:spPr>
          <a:xfrm>
            <a:off x="8247888" y="46451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0.5553</a:t>
            </a:r>
            <a:endParaRPr lang="en-US" sz="2800" dirty="0"/>
          </a:p>
        </p:txBody>
      </p:sp>
      <p:sp>
        <p:nvSpPr>
          <p:cNvPr id="15" name="Result 3 text"/>
          <p:cNvSpPr txBox="1"/>
          <p:nvPr/>
        </p:nvSpPr>
        <p:spPr>
          <a:xfrm>
            <a:off x="8247888" y="5212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Highest ROC-AUC (XGBoost); all models are close to 0.5, so accuracy alone is misleading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Application Modules</a:t>
            </a:r>
            <a:endParaRPr lang="en-US" sz="3200" dirty="0"/>
          </a:p>
        </p:txBody>
      </p:sp>
      <p:sp>
        <p:nvSpPr>
          <p:cNvPr id="3" name="Customer header"/>
          <p:cNvSpPr/>
          <p:nvPr/>
        </p:nvSpPr>
        <p:spPr>
          <a:xfrm>
            <a:off x="548640" y="1417320"/>
            <a:ext cx="3502152" cy="548640"/>
          </a:xfrm>
          <a:prstGeom prst="roundRect">
            <a:avLst>
              <a:gd name="adj" fmla="val 13333"/>
            </a:avLst>
          </a:prstGeom>
          <a:solidFill>
            <a:srgbClr val="6D28D9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4" name="Customer name"/>
          <p:cNvSpPr txBox="1"/>
          <p:nvPr/>
        </p:nvSpPr>
        <p:spPr>
          <a:xfrm>
            <a:off x="548640" y="141732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Customer</a:t>
            </a:r>
            <a:endParaRPr lang="en-US" sz="1700" dirty="0"/>
          </a:p>
        </p:txBody>
      </p:sp>
      <p:sp>
        <p:nvSpPr>
          <p:cNvPr id="5" name="Workflow arrow 1"/>
          <p:cNvSpPr/>
          <p:nvPr/>
        </p:nvSpPr>
        <p:spPr>
          <a:xfrm>
            <a:off x="4087368" y="1572768"/>
            <a:ext cx="219456" cy="237744"/>
          </a:xfrm>
          <a:prstGeom prst="rightArrow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Customer frame"/>
          <p:cNvSpPr/>
          <p:nvPr/>
        </p:nvSpPr>
        <p:spPr>
          <a:xfrm>
            <a:off x="530352" y="2130552"/>
            <a:ext cx="3538728" cy="259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Customer screenshot" descr="Customer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8840"/>
            <a:ext cx="3502152" cy="2560320"/>
          </a:xfrm>
          <a:prstGeom prst="rect">
            <a:avLst/>
          </a:prstGeom>
        </p:spPr>
      </p:pic>
      <p:sp>
        <p:nvSpPr>
          <p:cNvPr id="8" name="Customer text"/>
          <p:cNvSpPr txBox="1"/>
          <p:nvPr/>
        </p:nvSpPr>
        <p:spPr>
          <a:xfrm>
            <a:off x="548640" y="489204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Sign up, apply for a loan, track status and timeline, see the rejection reason</a:t>
            </a:r>
            <a:endParaRPr lang="en-US" sz="1400" dirty="0"/>
          </a:p>
        </p:txBody>
      </p:sp>
      <p:sp>
        <p:nvSpPr>
          <p:cNvPr id="9" name="Bank Officer header"/>
          <p:cNvSpPr/>
          <p:nvPr/>
        </p:nvSpPr>
        <p:spPr>
          <a:xfrm>
            <a:off x="4343400" y="1417320"/>
            <a:ext cx="3502152" cy="548640"/>
          </a:xfrm>
          <a:prstGeom prst="roundRect">
            <a:avLst>
              <a:gd name="adj" fmla="val 13333"/>
            </a:avLst>
          </a:prstGeom>
          <a:solidFill>
            <a:srgbClr val="6D28D9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0" name="Bank Officer name"/>
          <p:cNvSpPr txBox="1"/>
          <p:nvPr/>
        </p:nvSpPr>
        <p:spPr>
          <a:xfrm>
            <a:off x="4343400" y="141732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Bank Officer</a:t>
            </a:r>
            <a:endParaRPr lang="en-US" sz="1700" dirty="0"/>
          </a:p>
        </p:txBody>
      </p:sp>
      <p:sp>
        <p:nvSpPr>
          <p:cNvPr id="11" name="Workflow arrow 2"/>
          <p:cNvSpPr/>
          <p:nvPr/>
        </p:nvSpPr>
        <p:spPr>
          <a:xfrm>
            <a:off x="7882128" y="1572768"/>
            <a:ext cx="219456" cy="237744"/>
          </a:xfrm>
          <a:prstGeom prst="rightArrow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Bank Officer frame"/>
          <p:cNvSpPr/>
          <p:nvPr/>
        </p:nvSpPr>
        <p:spPr>
          <a:xfrm>
            <a:off x="4325112" y="2130552"/>
            <a:ext cx="3538728" cy="259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Bank Officer screenshot" descr="Bank Officer 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148840"/>
            <a:ext cx="3502152" cy="2560320"/>
          </a:xfrm>
          <a:prstGeom prst="rect">
            <a:avLst/>
          </a:prstGeom>
        </p:spPr>
      </p:pic>
      <p:sp>
        <p:nvSpPr>
          <p:cNvPr id="14" name="Bank Officer text"/>
          <p:cNvSpPr txBox="1"/>
          <p:nvPr/>
        </p:nvSpPr>
        <p:spPr>
          <a:xfrm>
            <a:off x="4343400" y="489204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Review applications with fraud probability; approve, reject or send for review</a:t>
            </a:r>
            <a:endParaRPr lang="en-US" sz="1400" dirty="0"/>
          </a:p>
        </p:txBody>
      </p:sp>
      <p:sp>
        <p:nvSpPr>
          <p:cNvPr id="15" name="Admin / Technical header"/>
          <p:cNvSpPr/>
          <p:nvPr/>
        </p:nvSpPr>
        <p:spPr>
          <a:xfrm>
            <a:off x="8138160" y="1417320"/>
            <a:ext cx="3502152" cy="548640"/>
          </a:xfrm>
          <a:prstGeom prst="roundRect">
            <a:avLst>
              <a:gd name="adj" fmla="val 13333"/>
            </a:avLst>
          </a:prstGeom>
          <a:solidFill>
            <a:srgbClr val="6D28D9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6" name="Admin / Technical name"/>
          <p:cNvSpPr txBox="1"/>
          <p:nvPr/>
        </p:nvSpPr>
        <p:spPr>
          <a:xfrm>
            <a:off x="8138160" y="141732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Admin / Technical</a:t>
            </a:r>
            <a:endParaRPr lang="en-US" sz="1700" dirty="0"/>
          </a:p>
        </p:txBody>
      </p:sp>
      <p:sp>
        <p:nvSpPr>
          <p:cNvPr id="17" name="Admin / Technical frame"/>
          <p:cNvSpPr/>
          <p:nvPr/>
        </p:nvSpPr>
        <p:spPr>
          <a:xfrm>
            <a:off x="8119872" y="2130552"/>
            <a:ext cx="3538728" cy="259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8" name="Admin / Technical screenshot" descr="Admin / Technical scre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148840"/>
            <a:ext cx="3502152" cy="2560320"/>
          </a:xfrm>
          <a:prstGeom prst="rect">
            <a:avLst/>
          </a:prstGeom>
        </p:spPr>
      </p:pic>
      <p:sp>
        <p:nvSpPr>
          <p:cNvPr id="19" name="Admin / Technical text"/>
          <p:cNvSpPr txBox="1"/>
          <p:nvPr/>
        </p:nvSpPr>
        <p:spPr>
          <a:xfrm>
            <a:off x="8138160" y="489204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Dataset overview, data quality, ML model comparison, OLAP and system information</a:t>
            </a:r>
            <a:endParaRPr lang="en-US" sz="1400" dirty="0"/>
          </a:p>
        </p:txBody>
      </p:sp>
      <p:sp>
        <p:nvSpPr>
          <p:cNvPr id="20" name="Workflow line"/>
          <p:cNvSpPr txBox="1"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Workflow: Customer applies  →  Bank Officer reviews and decides  →  Admin monitors data, models and system. Access to each module is controlled by role.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Conclusion and Future Scope</a:t>
            </a:r>
            <a:endParaRPr lang="en-US" sz="3200" dirty="0"/>
          </a:p>
        </p:txBody>
      </p:sp>
      <p:sp>
        <p:nvSpPr>
          <p:cNvPr id="3" name="Models card"/>
          <p:cNvSpPr/>
          <p:nvPr/>
        </p:nvSpPr>
        <p:spPr>
          <a:xfrm>
            <a:off x="548640" y="14630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4" name="Models value"/>
          <p:cNvSpPr txBox="1"/>
          <p:nvPr/>
        </p:nvSpPr>
        <p:spPr>
          <a:xfrm>
            <a:off x="731520" y="16276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5</a:t>
            </a:r>
            <a:endParaRPr lang="en-US" sz="3400" dirty="0"/>
          </a:p>
        </p:txBody>
      </p:sp>
      <p:sp>
        <p:nvSpPr>
          <p:cNvPr id="5" name="Models label"/>
          <p:cNvSpPr txBox="1"/>
          <p:nvPr/>
        </p:nvSpPr>
        <p:spPr>
          <a:xfrm>
            <a:off x="731520" y="2286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ML models trained and compared</a:t>
            </a:r>
            <a:endParaRPr lang="en-US" sz="1300" dirty="0"/>
          </a:p>
        </p:txBody>
      </p:sp>
      <p:sp>
        <p:nvSpPr>
          <p:cNvPr id="6" name="Recall card"/>
          <p:cNvSpPr/>
          <p:nvPr/>
        </p:nvSpPr>
        <p:spPr>
          <a:xfrm>
            <a:off x="4297680" y="14630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7" name="Recall value"/>
          <p:cNvSpPr txBox="1"/>
          <p:nvPr/>
        </p:nvSpPr>
        <p:spPr>
          <a:xfrm>
            <a:off x="4480560" y="16276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38.1%</a:t>
            </a:r>
            <a:endParaRPr lang="en-US" sz="3400" dirty="0"/>
          </a:p>
        </p:txBody>
      </p:sp>
      <p:sp>
        <p:nvSpPr>
          <p:cNvPr id="8" name="Recall label"/>
          <p:cNvSpPr txBox="1"/>
          <p:nvPr/>
        </p:nvSpPr>
        <p:spPr>
          <a:xfrm>
            <a:off x="4480560" y="2286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highest recall (Logistic Regression)</a:t>
            </a:r>
            <a:endParaRPr lang="en-US" sz="1300" dirty="0"/>
          </a:p>
        </p:txBody>
      </p:sp>
      <p:sp>
        <p:nvSpPr>
          <p:cNvPr id="9" name="ROC-AUC card"/>
          <p:cNvSpPr/>
          <p:nvPr/>
        </p:nvSpPr>
        <p:spPr>
          <a:xfrm>
            <a:off x="8046720" y="1463040"/>
            <a:ext cx="359359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0" name="ROC-AUC value"/>
          <p:cNvSpPr txBox="1"/>
          <p:nvPr/>
        </p:nvSpPr>
        <p:spPr>
          <a:xfrm>
            <a:off x="8229600" y="1627632"/>
            <a:ext cx="3227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0.5553</a:t>
            </a:r>
            <a:endParaRPr lang="en-US" sz="3400" dirty="0"/>
          </a:p>
        </p:txBody>
      </p:sp>
      <p:sp>
        <p:nvSpPr>
          <p:cNvPr id="11" name="ROC-AUC label"/>
          <p:cNvSpPr txBox="1"/>
          <p:nvPr/>
        </p:nvSpPr>
        <p:spPr>
          <a:xfrm>
            <a:off x="8229600" y="228600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highest ROC-AUC (XGBoost)</a:t>
            </a:r>
            <a:endParaRPr lang="en-US" sz="1300" dirty="0"/>
          </a:p>
        </p:txBody>
      </p:sp>
      <p:sp>
        <p:nvSpPr>
          <p:cNvPr id="12" name="Conclusion card"/>
          <p:cNvSpPr/>
          <p:nvPr/>
        </p:nvSpPr>
        <p:spPr>
          <a:xfrm>
            <a:off x="548640" y="292608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3" name="Conclusion heading"/>
          <p:cNvSpPr txBox="1"/>
          <p:nvPr/>
        </p:nvSpPr>
        <p:spPr>
          <a:xfrm>
            <a:off x="822960" y="30449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Conclusion</a:t>
            </a:r>
            <a:endParaRPr lang="en-US" sz="1500" dirty="0"/>
          </a:p>
        </p:txBody>
      </p:sp>
      <p:sp>
        <p:nvSpPr>
          <p:cNvPr id="14" name="Conclusion points"/>
          <p:cNvSpPr txBox="1"/>
          <p:nvPr/>
        </p:nvSpPr>
        <p:spPr>
          <a:xfrm>
            <a:off x="822960" y="3429000"/>
            <a:ext cx="4892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Loan data modelled as a star schema and analysed with OLAP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Five models trained and compared in an identical pipeline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model detects fraud reliably with the available attributes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Working Customer, Bank Officer and Admin modules with audit trail</a:t>
            </a:r>
            <a:endParaRPr lang="en-US" sz="1500" dirty="0"/>
          </a:p>
        </p:txBody>
      </p:sp>
      <p:sp>
        <p:nvSpPr>
          <p:cNvPr id="15" name="Future scope card"/>
          <p:cNvSpPr/>
          <p:nvPr/>
        </p:nvSpPr>
        <p:spPr>
          <a:xfrm>
            <a:off x="6199632" y="2926080"/>
            <a:ext cx="54406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6" name="Future scope heading"/>
          <p:cNvSpPr txBox="1"/>
          <p:nvPr/>
        </p:nvSpPr>
        <p:spPr>
          <a:xfrm>
            <a:off x="6473952" y="30449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Future Scope</a:t>
            </a:r>
            <a:endParaRPr lang="en-US" sz="1500" dirty="0"/>
          </a:p>
        </p:txBody>
      </p:sp>
      <p:sp>
        <p:nvSpPr>
          <p:cNvPr id="17" name="Future scope points"/>
          <p:cNvSpPr txBox="1"/>
          <p:nvPr/>
        </p:nvSpPr>
        <p:spPr>
          <a:xfrm>
            <a:off x="6473952" y="3429000"/>
            <a:ext cx="4892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Richer features such as credit history and repayment behaviour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Threshold tuning and cross-validation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Per-application explanations (e.g. SHAP)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Star schema in a relational warehouse with scheduled ETL</a:t>
            </a:r>
            <a:endParaRPr lang="en-US" sz="1500" dirty="0"/>
          </a:p>
        </p:txBody>
      </p:sp>
      <p:sp>
        <p:nvSpPr>
          <p:cNvPr id="18" name="Thank you"/>
          <p:cNvSpPr txBox="1"/>
          <p:nvPr/>
        </p:nvSpPr>
        <p:spPr>
          <a:xfrm>
            <a:off x="548640" y="5577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Thank You</a:t>
            </a:r>
            <a:endParaRPr lang="en-US" sz="2400" dirty="0"/>
          </a:p>
        </p:txBody>
      </p:sp>
      <p:sp>
        <p:nvSpPr>
          <p:cNvPr id="19" name="Students"/>
          <p:cNvSpPr txBox="1"/>
          <p:nvPr/>
        </p:nvSpPr>
        <p:spPr>
          <a:xfrm>
            <a:off x="3474720" y="5577840"/>
            <a:ext cx="8165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Omkar Padhi (24101C0003)   ·   Shremaan Kumar (24101C0002)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udGuard">
  <a:themeElements>
    <a:clrScheme name="FraudGuard">
      <a:dk1>
        <a:srgbClr val="1F2430"/>
      </a:dk1>
      <a:lt1>
        <a:srgbClr val="FFFFFF"/>
      </a:lt1>
      <a:dk2>
        <a:srgbClr val="4B5263"/>
      </a:dk2>
      <a:lt2>
        <a:srgbClr val="F5F3FF"/>
      </a:lt2>
      <a:accent1>
        <a:srgbClr val="6D28D9"/>
      </a:accent1>
      <a:accent2>
        <a:srgbClr val="A78BFA"/>
      </a:accent2>
      <a:accent3>
        <a:srgbClr val="DDD6FE"/>
      </a:accent3>
      <a:accent4>
        <a:srgbClr val="6B7280"/>
      </a:accent4>
      <a:accent5>
        <a:srgbClr val="E5E7EB"/>
      </a:accent5>
      <a:accent6>
        <a:srgbClr val="4C1D95"/>
      </a:accent6>
      <a:hlink>
        <a:srgbClr val="6D28D9"/>
      </a:hlink>
      <a:folHlink>
        <a:srgbClr val="4C1D95"/>
      </a:folHlink>
    </a:clrScheme>
    <a:fontScheme name="FraudGuar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FraudGuard — Financial Fraud Detection &amp; Customer Risk Analysis</dc:title>
  <dc:subject>Data Warehouse and Mining (DWM)</dc:subject>
  <dc:creator>Omkar Padhi, Shremaan Kumar</dc:creator>
  <cp:lastModifiedBy>Omkar Padhi, Shremaan Kumar</cp:lastModifiedBy>
  <cp:revision>1</cp:revision>
  <dcterms:created xsi:type="dcterms:W3CDTF">2026-10-06T04:36:39Z</dcterms:created>
  <dcterms:modified xsi:type="dcterms:W3CDTF">2026-10-06T04:36:39Z</dcterms:modified>
</cp:coreProperties>
</file>